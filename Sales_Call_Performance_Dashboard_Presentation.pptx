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0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10515600" cy="2743200"/>
          </a:xfrm>
          <a:prstGeom prst="rect">
            <a:avLst/>
          </a:prstGeom>
          <a:noFill/>
        </p:spPr>
        <p:txBody>
          <a:bodyPr wrap="none">
            <a:spAutoFit/>
          </a:bodyPr>
          <a:lstStyle/>
          <a:p>
            <a:pPr>
              <a:defRPr sz="3000" b="1">
                <a:solidFill>
                  <a:srgbClr val="FFFFFF"/>
                </a:solidFill>
              </a:defRPr>
            </a:pPr>
            <a:r>
              <a:t>Sales Call Performance Dashboard</a:t>
            </a:r>
          </a:p>
          <a:p>
            <a:pPr>
              <a:defRPr sz="2200">
                <a:solidFill>
                  <a:srgbClr val="E6E6E6"/>
                </a:solidFill>
              </a:defRPr>
            </a:pPr>
            <a:r>
              <a:t>Internship Task 4: Dashboard Design</a:t>
            </a:r>
          </a:p>
          <a:p>
            <a:pPr>
              <a:defRPr sz="2200">
                <a:solidFill>
                  <a:srgbClr val="E6E6E6"/>
                </a:solidFill>
              </a:defRPr>
            </a:pPr>
            <a:r>
              <a:t>Tool: Microsoft Power BI</a:t>
            </a:r>
          </a:p>
          <a:p>
            <a:pPr>
              <a:defRPr sz="2200">
                <a:solidFill>
                  <a:srgbClr val="E6E6E6"/>
                </a:solidFill>
              </a:defRPr>
            </a:pPr>
            <a:r>
              <a:t>Dataset: Product Sales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800" b="1"/>
            </a:pPr>
            <a:r>
              <a:t>Project Objective</a:t>
            </a:r>
          </a:p>
        </p:txBody>
      </p:sp>
      <p:sp>
        <p:nvSpPr>
          <p:cNvPr id="3" name="TextBox 2"/>
          <p:cNvSpPr txBox="1"/>
          <p:nvPr/>
        </p:nvSpPr>
        <p:spPr>
          <a:xfrm>
            <a:off x="640080" y="914400"/>
            <a:ext cx="10972800" cy="4572000"/>
          </a:xfrm>
          <a:prstGeom prst="rect">
            <a:avLst/>
          </a:prstGeom>
          <a:noFill/>
        </p:spPr>
        <p:txBody>
          <a:bodyPr wrap="none">
            <a:spAutoFit/>
          </a:bodyPr>
          <a:lstStyle/>
          <a:p>
            <a:pPr>
              <a:defRPr sz="2200"/>
            </a:pPr>
            <a:r>
              <a:t>Objective:</a:t>
            </a:r>
            <a:br/>
            <a:br/>
            <a:r>
              <a:t>To design an interactive Power BI dashboard that analyzes sales call performance. The dashboard enables business stakeholders to monitor agent performance, product sales, call pickup status, average call duration, and conversion rate through interactive visuals and slicers.</a:t>
            </a:r>
          </a:p>
        </p:txBody>
      </p:sp>
      <p:sp>
        <p:nvSpPr>
          <p:cNvPr id="4" name="TextBox 3"/>
          <p:cNvSpPr txBox="1"/>
          <p:nvPr/>
        </p:nvSpPr>
        <p:spPr>
          <a:xfrm>
            <a:off x="457200" y="6400800"/>
            <a:ext cx="10972800" cy="274320"/>
          </a:xfrm>
          <a:prstGeom prst="rect">
            <a:avLst/>
          </a:prstGeom>
          <a:noFill/>
        </p:spPr>
        <p:txBody>
          <a:bodyPr wrap="none">
            <a:spAutoFit/>
          </a:bodyPr>
          <a:lstStyle/>
          <a:p>
            <a:pPr>
              <a:defRPr sz="1000"/>
            </a:pPr>
            <a:r>
              <a:t>Prepared by: Irfaan Basha | Tool: Microsoft Power BI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800" b="1"/>
            </a:pPr>
            <a:r>
              <a:t>Dashboard Overview</a:t>
            </a:r>
          </a:p>
        </p:txBody>
      </p:sp>
      <p:pic>
        <p:nvPicPr>
          <p:cNvPr id="3" name="Picture 2" descr="Screenshot 2026-07-13 212031.png"/>
          <p:cNvPicPr>
            <a:picLocks noChangeAspect="1"/>
          </p:cNvPicPr>
          <p:nvPr/>
        </p:nvPicPr>
        <p:blipFill>
          <a:blip r:embed="rId2"/>
          <a:stretch>
            <a:fillRect/>
          </a:stretch>
        </p:blipFill>
        <p:spPr>
          <a:xfrm>
            <a:off x="457200" y="731520"/>
            <a:ext cx="8229600" cy="4596466"/>
          </a:xfrm>
          <a:prstGeom prst="rect">
            <a:avLst/>
          </a:prstGeom>
        </p:spPr>
      </p:pic>
      <p:sp>
        <p:nvSpPr>
          <p:cNvPr id="4" name="TextBox 3"/>
          <p:cNvSpPr txBox="1"/>
          <p:nvPr/>
        </p:nvSpPr>
        <p:spPr>
          <a:xfrm>
            <a:off x="8869680" y="914400"/>
            <a:ext cx="2743200" cy="3657600"/>
          </a:xfrm>
          <a:prstGeom prst="rect">
            <a:avLst/>
          </a:prstGeom>
          <a:noFill/>
        </p:spPr>
        <p:txBody>
          <a:bodyPr wrap="none">
            <a:spAutoFit/>
          </a:bodyPr>
          <a:lstStyle/>
          <a:p>
            <a:pPr>
              <a:defRPr b="1" sz="2000"/>
            </a:pPr>
            <a:r>
              <a:t>Key KPIs</a:t>
            </a:r>
          </a:p>
          <a:p>
            <a:pPr>
              <a:defRPr sz="1800"/>
            </a:pPr>
            <a:r>
              <a:t>• Total Calls: 10K</a:t>
            </a:r>
          </a:p>
          <a:p>
            <a:pPr>
              <a:defRPr sz="1800"/>
            </a:pPr>
            <a:r>
              <a:t>• Products Sold: 2K</a:t>
            </a:r>
          </a:p>
          <a:p>
            <a:pPr>
              <a:defRPr sz="1800"/>
            </a:pPr>
            <a:r>
              <a:t>• Average Call Duration: 125.16 sec</a:t>
            </a:r>
          </a:p>
          <a:p>
            <a:pPr>
              <a:defRPr sz="1800"/>
            </a:pPr>
            <a:r>
              <a:t>• Conversion Rate: 21.02%</a:t>
            </a:r>
          </a:p>
        </p:txBody>
      </p:sp>
      <p:sp>
        <p:nvSpPr>
          <p:cNvPr id="5" name="TextBox 4"/>
          <p:cNvSpPr txBox="1"/>
          <p:nvPr/>
        </p:nvSpPr>
        <p:spPr>
          <a:xfrm>
            <a:off x="457200" y="6400800"/>
            <a:ext cx="10972800" cy="274320"/>
          </a:xfrm>
          <a:prstGeom prst="rect">
            <a:avLst/>
          </a:prstGeom>
          <a:noFill/>
        </p:spPr>
        <p:txBody>
          <a:bodyPr wrap="none">
            <a:spAutoFit/>
          </a:bodyPr>
          <a:lstStyle/>
          <a:p>
            <a:pPr>
              <a:defRPr sz="1000"/>
            </a:pPr>
            <a:r>
              <a:t>Prepared by: Irfaan Basha | Tool: Microsoft Power BI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800" b="1"/>
            </a:pPr>
            <a:r>
              <a:t>Key Insights</a:t>
            </a:r>
          </a:p>
        </p:txBody>
      </p:sp>
      <p:sp>
        <p:nvSpPr>
          <p:cNvPr id="3" name="TextBox 2"/>
          <p:cNvSpPr txBox="1"/>
          <p:nvPr/>
        </p:nvSpPr>
        <p:spPr>
          <a:xfrm>
            <a:off x="640080" y="822960"/>
            <a:ext cx="10972800" cy="5029200"/>
          </a:xfrm>
          <a:prstGeom prst="rect">
            <a:avLst/>
          </a:prstGeom>
          <a:noFill/>
        </p:spPr>
        <p:txBody>
          <a:bodyPr wrap="none">
            <a:spAutoFit/>
          </a:bodyPr>
          <a:lstStyle/>
          <a:p>
            <a:pPr>
              <a:defRPr sz="2000"/>
            </a:pPr>
            <a:r>
              <a:t>• Total calls handled: 10,000</a:t>
            </a:r>
          </a:p>
          <a:p>
            <a:pPr>
              <a:defRPr sz="2000"/>
            </a:pPr>
            <a:r>
              <a:t>• Products sold: 2,102</a:t>
            </a:r>
          </a:p>
          <a:p>
            <a:pPr>
              <a:defRPr sz="2000"/>
            </a:pPr>
            <a:r>
              <a:t>• Overall conversion rate: 21.02%</a:t>
            </a:r>
          </a:p>
          <a:p>
            <a:pPr>
              <a:defRPr sz="2000"/>
            </a:pPr>
            <a:r>
              <a:t>• 69.62% of calls were picked up successfully.</a:t>
            </a:r>
          </a:p>
          <a:p>
            <a:pPr>
              <a:defRPr sz="2000"/>
            </a:pPr>
            <a:r>
              <a:t>• Top-performing agents achieved higher product sales.</a:t>
            </a:r>
          </a:p>
          <a:p>
            <a:pPr>
              <a:defRPr sz="2000"/>
            </a:pPr>
            <a:r>
              <a:t>• Average call duration: 125.16 seconds.</a:t>
            </a:r>
          </a:p>
          <a:p>
            <a:pPr>
              <a:defRPr sz="2000"/>
            </a:pPr>
            <a:r>
              <a:t>• Interactive slicers allow dynamic filtering by agent and sales status.</a:t>
            </a:r>
          </a:p>
        </p:txBody>
      </p:sp>
      <p:sp>
        <p:nvSpPr>
          <p:cNvPr id="4" name="TextBox 3"/>
          <p:cNvSpPr txBox="1"/>
          <p:nvPr/>
        </p:nvSpPr>
        <p:spPr>
          <a:xfrm>
            <a:off x="457200" y="6400800"/>
            <a:ext cx="10972800" cy="274320"/>
          </a:xfrm>
          <a:prstGeom prst="rect">
            <a:avLst/>
          </a:prstGeom>
          <a:noFill/>
        </p:spPr>
        <p:txBody>
          <a:bodyPr wrap="none">
            <a:spAutoFit/>
          </a:bodyPr>
          <a:lstStyle/>
          <a:p>
            <a:pPr>
              <a:defRPr sz="1000"/>
            </a:pPr>
            <a:r>
              <a:t>Prepared by: Irfaan Basha | Tool: Microsoft Power BI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800" b="1"/>
            </a:pPr>
            <a:r>
              <a:t>Conclusion</a:t>
            </a:r>
          </a:p>
        </p:txBody>
      </p:sp>
      <p:sp>
        <p:nvSpPr>
          <p:cNvPr id="3" name="TextBox 2"/>
          <p:cNvSpPr txBox="1"/>
          <p:nvPr/>
        </p:nvSpPr>
        <p:spPr>
          <a:xfrm>
            <a:off x="640080" y="914400"/>
            <a:ext cx="10972800" cy="4572000"/>
          </a:xfrm>
          <a:prstGeom prst="rect">
            <a:avLst/>
          </a:prstGeom>
          <a:noFill/>
        </p:spPr>
        <p:txBody>
          <a:bodyPr wrap="none">
            <a:spAutoFit/>
          </a:bodyPr>
          <a:lstStyle/>
          <a:p>
            <a:pPr>
              <a:defRPr sz="2000"/>
            </a:pPr>
            <a:r>
              <a:t>✓ Designed an interactive and user-friendly Power BI dashboard.</a:t>
            </a:r>
          </a:p>
          <a:p>
            <a:pPr>
              <a:defRPr sz="2000"/>
            </a:pPr>
            <a:r>
              <a:t>✓ Used KPI cards, bar charts, a donut chart, and slicers.</a:t>
            </a:r>
          </a:p>
          <a:p>
            <a:pPr>
              <a:defRPr sz="2000"/>
            </a:pPr>
            <a:r>
              <a:t>✓ Analyzed sales calls, agent performance, and conversion rate.</a:t>
            </a:r>
          </a:p>
          <a:p>
            <a:pPr>
              <a:defRPr sz="2000"/>
            </a:pPr>
            <a:r>
              <a:t>✓ The dashboard supports data-driven business decisions.</a:t>
            </a:r>
          </a:p>
          <a:p>
            <a:pPr>
              <a:defRPr sz="2000"/>
            </a:pPr>
            <a:r>
              <a:t>✓ Successfully completed Internship Task 4.</a:t>
            </a:r>
          </a:p>
        </p:txBody>
      </p:sp>
      <p:sp>
        <p:nvSpPr>
          <p:cNvPr id="4" name="TextBox 3"/>
          <p:cNvSpPr txBox="1"/>
          <p:nvPr/>
        </p:nvSpPr>
        <p:spPr>
          <a:xfrm>
            <a:off x="457200" y="6400800"/>
            <a:ext cx="10972800" cy="274320"/>
          </a:xfrm>
          <a:prstGeom prst="rect">
            <a:avLst/>
          </a:prstGeom>
          <a:noFill/>
        </p:spPr>
        <p:txBody>
          <a:bodyPr wrap="none">
            <a:spAutoFit/>
          </a:bodyPr>
          <a:lstStyle/>
          <a:p>
            <a:pPr>
              <a:defRPr sz="1000"/>
            </a:pPr>
            <a:r>
              <a:t>Prepared by: Irfaan Basha | Tool: Microsoft Power BI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